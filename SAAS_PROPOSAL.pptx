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502920" cy="50292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13232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950976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enlo"/>
              </a:rPr>
              <a:t>options analytics · live GEX · score-driven picks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E2E8F0"/>
                </a:solidFill>
                <a:latin typeface="Helvetica Neue"/>
              </a:rPr>
              <a:t>From shared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3B82F6"/>
                </a:solidFill>
                <a:latin typeface="Helvetica Neue"/>
              </a:rPr>
              <a:t>to live multi-tenant SaaS.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Helvetica Neue"/>
              </a:rPr>
              <a:t>A pivot blueprint for the trading-dashboard-v2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515600" cy="5029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7607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Menlo"/>
              </a:rPr>
              <a:t>prepared for  iiSalman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760720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enlo"/>
              </a:rPr>
              <a:t>2026-05-16  ·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02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The pitch, in four bullets.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11384280" cy="10058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640080" cy="64008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B0F1A"/>
                </a:solidFill>
                <a:latin typeface="Menl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920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Menlo"/>
              </a:rPr>
              <a:t>TARGET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2402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Helvetica Neue"/>
              </a:rPr>
              <a:t>U.S. retail/semi-pro options traders, 0DTE-curious, PDT-aware.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926080"/>
            <a:ext cx="11384280" cy="10058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108960"/>
            <a:ext cx="640080" cy="6400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B0F1A"/>
                </a:solidFill>
                <a:latin typeface="Menl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063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enlo"/>
              </a:rPr>
              <a:t>DIFFERENTIATOR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3832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Helvetica Neue"/>
              </a:rPr>
              <a:t>GEX-first, score-driven, live. No clutter, no upsell soup.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69080"/>
            <a:ext cx="11384280" cy="10058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251960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519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B0F1A"/>
                </a:solidFill>
                <a:latin typeface="Menl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206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nlo"/>
              </a:rPr>
              <a:t>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262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Helvetica Neue"/>
              </a:rPr>
              <a:t>$1k seed budget + 8 focused weeks. Solo bootstrappable.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212080"/>
            <a:ext cx="11384280" cy="10058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5394960"/>
            <a:ext cx="640080" cy="64008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B0F1A"/>
                </a:solidFill>
                <a:latin typeface="Menl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349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Menlo"/>
              </a:rPr>
              <a:t>MILESTONE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6692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Helvetica Neue"/>
              </a:rPr>
              <a:t>Paid beta in 8 weeks. Break-even at 13 users on a $29/mo plan.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current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03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Where we are today.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887" y="2103120"/>
            <a:ext cx="2011680" cy="12801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887" y="21945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Menlo"/>
              </a:rPr>
              <a:t>CRON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251460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GitHub Actions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*/5 * * * 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5447" y="2103120"/>
            <a:ext cx="2011680" cy="12801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5447" y="21945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Menlo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447" y="251460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yfinance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(Yahoo scrape)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0007" y="2103120"/>
            <a:ext cx="2011680" cy="12801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0007" y="21945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Menlo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0007" y="251460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build_snapshot.py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→ snapshot.json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4567" y="2103120"/>
            <a:ext cx="2011680" cy="12801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4567" y="21945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8B5CF6"/>
                </a:solidFill>
                <a:latin typeface="Menlo"/>
              </a:rPr>
              <a:t>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4567" y="251460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GitHub Pages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static 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79127" y="2103120"/>
            <a:ext cx="2011680" cy="12801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9127" y="21945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Menlo"/>
              </a:rP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9127" y="251460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Browser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fetches JSON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2567.5" y="2743200.0"/>
            <a:ext cx="182880.0" cy="0.0"/>
          </a:xfrm>
          <a:prstGeom prst="bentConnector3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07127.5" y="2743200.0"/>
            <a:ext cx="182880.0" cy="0.0"/>
          </a:xfrm>
          <a:prstGeom prst="bentConnector3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01687.5" y="2743200.0"/>
            <a:ext cx="182880.0" cy="0.0"/>
          </a:xfrm>
          <a:prstGeom prst="bentConnector3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96247.5" y="2743200.0"/>
            <a:ext cx="182880.0" cy="0.0"/>
          </a:xfrm>
          <a:prstGeom prst="bentConnector3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11480" y="3931920"/>
            <a:ext cx="11384280" cy="210312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148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Menlo"/>
              </a:rPr>
              <a:t>WHAT IT 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434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Helvetica Neue"/>
              </a:rPr>
              <a:t>A free, single-page dashboard. One shared JSON snapshot, rebuilt every 5 minutes by a cron job that scrapes Yahoo Finance and commits the result back to git. Anyone with the URL sees the same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349240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enlo"/>
              </a:rPr>
              <a:t>GREAT FOR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23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Helvetica Neue"/>
              </a:rPr>
              <a:t>personal use, demos, hobby projects.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04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Why it can't be a SaaS as-is.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37360"/>
            <a:ext cx="11384280" cy="8686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984248"/>
            <a:ext cx="411480" cy="36576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84248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0F1A"/>
                </a:solidFill>
                <a:latin typeface="Menlo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4708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Helvetica Neue"/>
              </a:rPr>
              <a:t>Yahoo ToS violation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847088"/>
            <a:ext cx="6858000" cy="6492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yfinance scrapes Yahoo. Yahoo's terms forbid commercial redistribution. Day-one legal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651760"/>
            <a:ext cx="11384280" cy="86868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898648"/>
            <a:ext cx="411480" cy="36576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98648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0F1A"/>
                </a:solidFill>
                <a:latin typeface="Menlo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76148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Helvetica Neue"/>
              </a:rPr>
              <a:t>Shared snapshot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761488"/>
            <a:ext cx="6858000" cy="6492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Every visitor sees the same data at the same staleness. Paying customers expect per-user views.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566160"/>
            <a:ext cx="11384280" cy="8686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813048"/>
            <a:ext cx="411480" cy="36576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13048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0F1A"/>
                </a:solidFill>
                <a:latin typeface="Menlo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7588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Helvetica Neue"/>
              </a:rPr>
              <a:t>No authentication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75888"/>
            <a:ext cx="6858000" cy="6492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No login, no accounts, no per-user state. Can't bill what we can't identify.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480560"/>
            <a:ext cx="11384280" cy="86868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4727448"/>
            <a:ext cx="411480" cy="36576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27448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0F1A"/>
                </a:solidFill>
                <a:latin typeface="Menlo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59028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Helvetica Neue"/>
              </a:rPr>
              <a:t>No payments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90288"/>
            <a:ext cx="6858000" cy="6492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No Stripe, no subscription tiers, no entitlement gating. Free is the only price.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394960"/>
            <a:ext cx="11384280" cy="8686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5641848"/>
            <a:ext cx="411480" cy="36576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641848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0F1A"/>
                </a:solidFill>
                <a:latin typeface="Menlo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50468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Helvetica Neue"/>
              </a:rPr>
              <a:t>No streaming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504688"/>
            <a:ext cx="6858000" cy="6492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Architecture commits JSON to git on a 5-min cron. No path to push live updates to a browser.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the 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05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Who pays, and why.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5029200" cy="44805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Menlo"/>
              </a:rPr>
              <a:t>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E2E8F0"/>
                </a:solidFill>
                <a:latin typeface="Helvetica Neue"/>
              </a:rPr>
              <a:t>Semi-pro retail trader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enlo"/>
              </a:rPr>
              <a:t>(25–45, U.S., $50k–500k account)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457200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•  trades U.S. options 2–10x / week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•  reads /r/options, watches Tasty Live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•  pays for Unusual Whales OR Whalestream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•  already comfortable reading Greeks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•  obsessive about GEX &amp; 0DTE flow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•  hates noise, wants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783080"/>
            <a:ext cx="6126480" cy="448056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9659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enlo"/>
              </a:rPr>
              <a:t>WHAT THEY PAY FOR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317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Helvetica Neue"/>
              </a:rPr>
              <a:t>Unusual Whales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3172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Menlo"/>
              </a:rPr>
              <a:t>$50–80 /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33172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options flow + sweeps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7889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Helvetica Neue"/>
              </a:rPr>
              <a:t>Whalestream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78892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Menlo"/>
              </a:rPr>
              <a:t>$60–150 /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78892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dark pool +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461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Helvetica Neue"/>
              </a:rPr>
              <a:t>OptionStrat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4612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Menlo"/>
              </a:rPr>
              <a:t>$30–60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24612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strategy builder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7033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Helvetica Neue"/>
              </a:rPr>
              <a:t>SpotGamma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70332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Menlo"/>
              </a:rPr>
              <a:t>$99–349 / 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70332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GEX &amp; vanna research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1605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Helvetica Neue"/>
              </a:rPr>
              <a:t>Tasty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16052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Menlo"/>
              </a:rPr>
              <a:t>$0 (broker)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16052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education + watchlists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4846320"/>
            <a:ext cx="6126480" cy="14173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498348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enlo"/>
              </a:rPr>
              <a:t>OUR WEDGE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257800"/>
            <a:ext cx="5486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GEX-first scoring. One number per ticker tells you whether to fade or follow. No 12 panels of clutter. $29 starting price undercuts SpotGamma 10×.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target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06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Live data, multi-tenant, streaming.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3200400" cy="9144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74519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Menlo"/>
              </a:rPr>
              <a:t>DATA 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4884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Theta Data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WebSocket · options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783080"/>
            <a:ext cx="4114800" cy="21945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874519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Menlo"/>
              </a:rPr>
              <a:t>BACKEND  ·  Python FastAPI on Railway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240280"/>
            <a:ext cx="3749039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enlo"/>
              </a:rPr>
              <a:t>▸ subscribe to Theta WebSocket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Menlo"/>
              </a:rPr>
              <a:t>▸ compute Δ Γ PCR GEX score (analyzer.py)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Menlo"/>
              </a:rPr>
              <a:t>▸ cache hot state in Upstash Redis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Menlo"/>
              </a:rPr>
              <a:t>▸ broadcast via Server-Sent Events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Menlo"/>
              </a:rPr>
              <a:t>▸ entitlement check per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783080"/>
            <a:ext cx="3108960" cy="21945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1874519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Menlo"/>
              </a:rPr>
              <a:t>FRONTEND  ·  Next.js on Vercel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40280"/>
            <a:ext cx="2834640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enlo"/>
              </a:rPr>
              <a:t>▸ Next.js 15 + Tailwind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Menlo"/>
              </a:rPr>
              <a:t>▸ EventSource subscriber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Menlo"/>
              </a:rPr>
              <a:t>▸ per-user watchlist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Menlo"/>
              </a:rPr>
              <a:t>▸ tier-gated UI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Menlo"/>
              </a:rPr>
              <a:t>▸ Stripe Checkout / Portal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11880" y="2240280"/>
            <a:ext cx="502920" cy="0"/>
          </a:xfrm>
          <a:prstGeom prst="bentConnector3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2880360"/>
            <a:ext cx="502920" cy="0"/>
          </a:xfrm>
          <a:prstGeom prst="bentConnector3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4434840"/>
            <a:ext cx="2743200" cy="128016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54456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8B5CF6"/>
                </a:solidFill>
                <a:latin typeface="Menlo"/>
              </a:rPr>
              <a:t>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2743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  <a:latin typeface="Menlo"/>
              </a:rPr>
              <a:t>Supabase Auth</a:t>
            </a:r>
          </a:p>
          <a:p>
            <a:pPr algn="ctr"/>
            <a:r>
              <a:rPr sz="1200" b="0">
                <a:solidFill>
                  <a:srgbClr val="E2E8F0"/>
                </a:solidFill>
                <a:latin typeface="Menlo"/>
              </a:rPr>
              <a:t>email · OAuth · MAU billing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64408" y="4434840"/>
            <a:ext cx="2743200" cy="128016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4408" y="454456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8B5CF6"/>
                </a:solidFill>
                <a:latin typeface="Menlo"/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4846320"/>
            <a:ext cx="2743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  <a:latin typeface="Menlo"/>
              </a:rPr>
              <a:t>Supabase Postgres</a:t>
            </a:r>
          </a:p>
          <a:p>
            <a:pPr algn="ctr"/>
            <a:r>
              <a:rPr sz="1200" b="0">
                <a:solidFill>
                  <a:srgbClr val="E2E8F0"/>
                </a:solidFill>
                <a:latin typeface="Menlo"/>
              </a:rPr>
              <a:t>users · subs · watchlists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17336" y="4434840"/>
            <a:ext cx="2743200" cy="128016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17336" y="454456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8B5CF6"/>
                </a:solidFill>
                <a:latin typeface="Menlo"/>
              </a:rPr>
              <a:t>BILLING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17336" y="4846320"/>
            <a:ext cx="2743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  <a:latin typeface="Menlo"/>
              </a:rPr>
              <a:t>Stripe Checkout</a:t>
            </a:r>
          </a:p>
          <a:p>
            <a:pPr algn="ctr"/>
            <a:r>
              <a:rPr sz="1200" b="0">
                <a:solidFill>
                  <a:srgbClr val="E2E8F0"/>
                </a:solidFill>
                <a:latin typeface="Menlo"/>
              </a:rPr>
              <a:t>subs · invoices · webhooks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0264" y="4434840"/>
            <a:ext cx="2743200" cy="128016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0264" y="454456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8B5CF6"/>
                </a:solidFill>
                <a:latin typeface="Menlo"/>
              </a:rPr>
              <a:t>HOSTING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0264" y="4846320"/>
            <a:ext cx="2743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  <a:latin typeface="Menlo"/>
              </a:rPr>
              <a:t>Railway + Vercel</a:t>
            </a:r>
          </a:p>
          <a:p>
            <a:pPr algn="ctr"/>
            <a:r>
              <a:rPr sz="1200" b="0">
                <a:solidFill>
                  <a:srgbClr val="E2E8F0"/>
                </a:solidFill>
                <a:latin typeface="Menlo"/>
              </a:rPr>
              <a:t>+ Upstash + GH Pages docs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897880"/>
            <a:ext cx="11384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enlo"/>
              </a:rPr>
              <a:t>End-to-end latency budget: ~1.5s from CBOE → Theta → backend → user screen.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decision · data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07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Who's allowed to redistribute to paying customers?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11384280" cy="411480"/>
          </a:xfrm>
          <a:prstGeom prst="roundRect">
            <a:avLst>
              <a:gd name="adj" fmla="val 4000"/>
            </a:avLst>
          </a:prstGeom>
          <a:solidFill>
            <a:srgbClr val="1A2235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2240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Menlo"/>
              </a:rPr>
              <a:t>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828800"/>
            <a:ext cx="1554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Menlo"/>
              </a:rPr>
              <a:t>MONTHLY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82880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Menlo"/>
              </a:rPr>
              <a:t>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82880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Menlo"/>
              </a:rPr>
              <a:t>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2880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Menlo"/>
              </a:rPr>
              <a:t>REDISTRIBUTION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828800"/>
            <a:ext cx="25603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Menlo"/>
              </a:rPr>
              <a:t>VERDICT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40280"/>
            <a:ext cx="11384280" cy="50292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240280"/>
            <a:ext cx="2240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Theta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24028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~$250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24028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24028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2402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✓ retail SaaS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24028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  <a:latin typeface="Helvetica Neue"/>
              </a:rPr>
              <a:t>★ recommended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743200"/>
            <a:ext cx="11384280" cy="5029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743200"/>
            <a:ext cx="2240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Polygon Massive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274320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~$500+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74320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74320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74320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✓ B2B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74320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Helvetica Neue"/>
              </a:rPr>
              <a:t>sales-gated; pricey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246120"/>
            <a:ext cx="11384280" cy="50292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246120"/>
            <a:ext cx="2240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CBOE LiveVol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324612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sales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24612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324612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2461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✓ enterprise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24612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Helvetica Neue"/>
              </a:rPr>
              <a:t>institutional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749040"/>
            <a:ext cx="11384280" cy="5029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749040"/>
            <a:ext cx="2240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Polygon Developer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374904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$199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374904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74904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7490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✕ internal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74904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  <a:latin typeface="Helvetica Neue"/>
              </a:rPr>
              <a:t>no redistribution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4251960"/>
            <a:ext cx="11384280" cy="50292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251960"/>
            <a:ext cx="2240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Tradier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" y="425196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$0*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25196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425196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2519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✕ per-user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25196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  <a:latin typeface="Helvetica Neue"/>
              </a:rPr>
              <a:t>broker account each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4754880"/>
            <a:ext cx="11384280" cy="5029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754880"/>
            <a:ext cx="2240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yfinance / Yahoo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51760" y="475488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$0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0" y="475488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7840" y="475488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enlo"/>
              </a:rPr>
              <a:t>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47548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✕ ToS forbids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475488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  <a:latin typeface="Helvetica Neue"/>
              </a:rPr>
              <a:t>day-one legal risk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" y="5577840"/>
            <a:ext cx="11384280" cy="7772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669280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enlo"/>
              </a:rPr>
              <a:t>RECOMMENDATION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94360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Start on Theta Data Standard ($250/mo). Confirm redistribution scope in writing before launch.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08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Boring stack, fast to 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707" y="1828800"/>
            <a:ext cx="3703320" cy="44348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3707" y="1828800"/>
            <a:ext cx="3703320" cy="50292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3707" y="182880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0F1A"/>
                </a:solidFill>
                <a:latin typeface="Menlo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587" y="246888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Python 3.12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587" y="274320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reuse existing analyzer.py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587" y="318211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587" y="34564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async REST + SSE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587" y="3895344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websockets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587" y="4169664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Theta Data subscriber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587" y="4608576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Redis (Upstash)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587" y="4882896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hot per-ticker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587" y="5321808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Postgres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587" y="5596128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users + audit +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4187" y="1828800"/>
            <a:ext cx="3703320" cy="44348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44187" y="1828800"/>
            <a:ext cx="370332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4187" y="182880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0F1A"/>
                </a:solidFill>
                <a:latin typeface="Menlo"/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7067" y="246888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Next.js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7067" y="274320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App Router, RSC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7067" y="318211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React 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7067" y="34564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7067" y="3895344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Tailwind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7067" y="4169664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match dashboard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7067" y="4608576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TanStack Query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7067" y="4882896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client cache + retry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7067" y="5321808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EventSource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7067" y="5596128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subscribe to backend SSE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4667" y="1828800"/>
            <a:ext cx="3703320" cy="44348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84667" y="1828800"/>
            <a:ext cx="370332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84667" y="182880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0F1A"/>
                </a:solidFill>
                <a:latin typeface="Menlo"/>
              </a:rPr>
              <a:t>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7547" y="246888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Railway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7547" y="274320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$20/mo backend host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7547" y="318211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Vercel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7547" y="34564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free → $20 frontend host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7547" y="3895344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Supabase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7547" y="4169664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$25/mo Auth + Postgres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7547" y="4608576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Upstash Redis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7547" y="4882896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$10/mo serverless cache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7547" y="5321808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Menlo"/>
              </a:rPr>
              <a:t>Stripe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7547" y="5596128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subs billing, 2.9% + 30¢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pricing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09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Three tiers, one decision per user.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707" y="1737360"/>
            <a:ext cx="3703320" cy="452628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6587" y="205740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Menlo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587" y="2468880"/>
            <a:ext cx="3337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E2E8F0"/>
                </a:solidFill>
                <a:latin typeface="Helvetica Neue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587" y="324612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enlo"/>
              </a:rPr>
              <a:t>always 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587" y="352044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enlo"/>
              </a:rPr>
              <a:t>→  lead 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587" y="3886200"/>
            <a:ext cx="3337560" cy="18288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027" y="406908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15-min delayed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027" y="4416552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top 5 tickers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027" y="4764024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basic GEX &amp; PCR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027" y="5111496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no watchlist 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027" y="545896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no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4187" y="1737360"/>
            <a:ext cx="3703320" cy="45262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75907" y="1691640"/>
            <a:ext cx="1371600" cy="32004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5907" y="169164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0B0F1A"/>
                </a:solidFill>
                <a:latin typeface="Menlo"/>
              </a:rPr>
              <a:t>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7067" y="205740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Menlo"/>
              </a:rPr>
              <a:t>BASIC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7067" y="2468880"/>
            <a:ext cx="3337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E2E8F0"/>
                </a:solidFill>
                <a:latin typeface="Helvetica Neue"/>
              </a:rPr>
              <a:t>$29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7067" y="324612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enlo"/>
              </a:rPr>
              <a:t>/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7067" y="352044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B82F6"/>
                </a:solidFill>
                <a:latin typeface="Menlo"/>
              </a:rPr>
              <a:t>→  the wedge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27067" y="3886200"/>
            <a:ext cx="3337560" cy="18288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8507" y="406908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real-time options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8507" y="4416552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25-ticker watchlist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8507" y="4764024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full score 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8507" y="5111496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GEX glossary +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8507" y="545896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email support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4667" y="1737360"/>
            <a:ext cx="3703320" cy="45262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7547" y="205740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Menlo"/>
              </a:rPr>
              <a:t>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7547" y="2468880"/>
            <a:ext cx="3337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E2E8F0"/>
                </a:solidFill>
                <a:latin typeface="Helvetica Neue"/>
              </a:rPr>
              <a:t>$79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7547" y="324612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enlo"/>
              </a:rPr>
              <a:t>/ 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7547" y="352044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Menlo"/>
              </a:rPr>
              <a:t>→  power user · margin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67547" y="3886200"/>
            <a:ext cx="3337560" cy="18288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8987" y="406908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everything in Basic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8987" y="4416552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custom watchlists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8987" y="4764024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price + flow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8987" y="5111496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historical backtest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8987" y="545896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·  REST API 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cost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10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Fixed burn, simple break-even.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5486400" cy="44805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Menlo"/>
              </a:rPr>
              <a:t>FIXED MONTHLY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Theta Data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3317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  <a:latin typeface="Menlo"/>
              </a:rPr>
              <a:t>$250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Supabase Pro (Auth + 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8346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  <a:latin typeface="Menlo"/>
              </a:rPr>
              <a:t>$25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Railway (backend)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33756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  <a:latin typeface="Menlo"/>
              </a:rPr>
              <a:t>$20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Vercel Pro (frontend)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84048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  <a:latin typeface="Menlo"/>
              </a:rPr>
              <a:t>$20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Upstash 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3434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  <a:latin typeface="Menlo"/>
              </a:rPr>
              <a:t>$10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4632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elvetica Neue"/>
              </a:rPr>
              <a:t>Domain +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8463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  <a:latin typeface="Menlo"/>
              </a:rPr>
              <a:t>$3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394960"/>
            <a:ext cx="5029200" cy="18288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53212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Menlo"/>
              </a:rPr>
              <a:t>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553212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2000" b="1">
                <a:solidFill>
                  <a:srgbClr val="10B981"/>
                </a:solidFill>
                <a:latin typeface="Menlo"/>
              </a:rPr>
              <a:t>$328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enlo"/>
              </a:rPr>
              <a:t>+ Stripe 2.9 % + 30¢ per charge (variable)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1783080"/>
            <a:ext cx="5669280" cy="448056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92024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enlo"/>
              </a:rPr>
              <a:t>BREAK-EVEN  ·  users to cover fixed burn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33172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3317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3317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33172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@ 50 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233172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@ 200 USERS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697480"/>
            <a:ext cx="5394960" cy="5029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697480"/>
            <a:ext cx="1188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  <a:latin typeface="Menlo"/>
              </a:rPr>
              <a:t>Basic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2697480"/>
            <a:ext cx="1005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$29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697480"/>
            <a:ext cx="1005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697480"/>
            <a:ext cx="1097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$1,122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2697480"/>
            <a:ext cx="1097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$5,472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246120"/>
            <a:ext cx="5394960" cy="5029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46120"/>
            <a:ext cx="1188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Menlo"/>
              </a:rPr>
              <a:t>Mid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3246120"/>
            <a:ext cx="1005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$49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246120"/>
            <a:ext cx="1005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246120"/>
            <a:ext cx="1097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$2,122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3246120"/>
            <a:ext cx="1097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$9,472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3794760"/>
            <a:ext cx="5394960" cy="5029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794760"/>
            <a:ext cx="1188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Menlo"/>
              </a:rPr>
              <a:t>Pro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3794760"/>
            <a:ext cx="1005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$79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3794760"/>
            <a:ext cx="1005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3794760"/>
            <a:ext cx="1097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$3,622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3794760"/>
            <a:ext cx="10972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Menlo"/>
              </a:rPr>
              <a:t>$15,472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49377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507492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Menlo"/>
              </a:rPr>
              <a:t>TAKEAWAY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349240"/>
            <a:ext cx="5029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Helvetica Neue"/>
              </a:rPr>
              <a:t>12 paying users covers everything. 50 users = ~$1k/mo MRR. The pure data cost ($250) dominates everything else.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phased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11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Eight weeks to paid beta. Six months to full product.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2926080" cy="14173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Menlo"/>
              </a:rPr>
              <a:t>PHASE 1  ·  Weeks 1–6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Helvetica Neue"/>
              </a:rPr>
              <a:t>MVP launch — single 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783080"/>
            <a:ext cx="8321040" cy="141732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965960"/>
            <a:ext cx="804672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sign Theta Data contract (verify redistribution scope)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scaffold FastAPI service polling Theta REST every 30s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Next.js shell + Supabase auth + Stripe single $29 plan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migrate analyzer.py compute into the FastAPI worker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private beta with 5–10 users from existing audience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91840"/>
            <a:ext cx="2926080" cy="14173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enlo"/>
              </a:rPr>
              <a:t>PHASE 2  ·  Weeks 7–12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947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Helvetica Neue"/>
              </a:rPr>
              <a:t>Real-time + Pro tier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291840"/>
            <a:ext cx="8321040" cy="141732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74720"/>
            <a:ext cx="804672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swap REST polling for Theta WebSocket subscriber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push live updates to browser via SSE / WebSocket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ship Pro $79 tier with custom watchlists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Stripe customer portal for self-serve upgrades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public launch on Twitter / r/options / IndieHackers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800600"/>
            <a:ext cx="2926080" cy="14173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98348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Menlo"/>
              </a:rPr>
              <a:t>PHASE 3  ·  Months 4–6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0352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Helvetica Neue"/>
              </a:rPr>
              <a:t>Retention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800600"/>
            <a:ext cx="8321040" cy="141732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4983480"/>
            <a:ext cx="804672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price + flow alerts (SMS via Twilio, Discord webhook)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historical backtest replay (TimescaleDB-backed)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REST + WebSocket API for developers (Pro tier)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team plans / multi-seat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▸  case study + content marketing flywheel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risks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12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What kills this, and how to not die.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11384280" cy="8686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164592" cy="8686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92808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Helvetica Neue"/>
              </a:rPr>
              <a:t>Data licensing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Helvetica Neue"/>
              </a:rPr>
              <a:t>Theta's $250 tier may not cover retail SaaS redistribution at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1874520"/>
            <a:ext cx="7955279" cy="68580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947672"/>
            <a:ext cx="7680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Menlo"/>
              </a:rPr>
              <a:t>MITIGATION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19456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Get scope confirmed in writing from sales before launch. Budget for $500/mo tier.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724912"/>
            <a:ext cx="11384280" cy="8686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724912"/>
            <a:ext cx="164592" cy="8686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83464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Helvetica Neue"/>
              </a:rPr>
              <a:t>Regulatory framing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136392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Helvetica Neue"/>
              </a:rPr>
              <a:t>'BULLISH / BEARISH' labels could be construed as investment advice.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2816352"/>
            <a:ext cx="7955279" cy="68580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2889504"/>
            <a:ext cx="7680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Menlo"/>
              </a:rPr>
              <a:t>MITIGATION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136392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Soften copy. Add strong disclaimers. ~$1k for a securities lawyer review pre-launch.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666744"/>
            <a:ext cx="11384280" cy="8686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666744"/>
            <a:ext cx="164592" cy="8686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776472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Helvetica Neue"/>
              </a:rPr>
              <a:t>Yahoo cliff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78224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Helvetica Neue"/>
              </a:rPr>
              <a:t>Current dashboard uses yfinance — illegal once we charge for the same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3758184"/>
            <a:ext cx="7955279" cy="68580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3831336"/>
            <a:ext cx="7680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Menlo"/>
              </a:rPr>
              <a:t>MITIGATION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078224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Must migrate to Theta before flipping the paywall on. No grace period.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608576"/>
            <a:ext cx="11384280" cy="8686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608576"/>
            <a:ext cx="164592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718304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Helvetica Neue"/>
              </a:rPr>
              <a:t>WebSocket scaling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020056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Helvetica Neue"/>
              </a:rPr>
              <a:t>At 100+ concurrent users the FastAPI process needs horizontal scaling.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49039" y="4700016"/>
            <a:ext cx="7955279" cy="68580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4773168"/>
            <a:ext cx="7680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Menlo"/>
              </a:rPr>
              <a:t>MITIGATION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020056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Use Railway autoscale + a fanout layer (Cloudflare Workers / Pusher) when MRR &gt; $1k.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550408"/>
            <a:ext cx="11384280" cy="8686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5550408"/>
            <a:ext cx="164592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660136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Helvetica Neue"/>
              </a:rPr>
              <a:t>Beta retention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961888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Helvetica Neue"/>
              </a:rPr>
              <a:t>Users may try it, then churn after 30 days. Common in fintech SaaS.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49039" y="5641848"/>
            <a:ext cx="7955279" cy="68580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0" y="5715000"/>
            <a:ext cx="7680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Menlo"/>
              </a:rPr>
              <a:t>MITIGATION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5961888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Helvetica Neue"/>
              </a:rPr>
              <a:t>Build alerts + watchlist sync (Phase 2) early — these drive habit &amp; lock-in.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13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Five things to do this week.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11384280" cy="7772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0F1424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3B82F6"/>
                </a:solidFill>
                <a:latin typeface="Menl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956816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Helvetica Neue"/>
              </a:rPr>
              <a:t>Email Theta Data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2402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Confirm $250 Standard tier explicitly permits retail SaaS redistribution. Get it in writing.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2075688"/>
            <a:ext cx="1325880" cy="32004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0" y="2075688"/>
            <a:ext cx="1325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  <a:latin typeface="Menlo"/>
              </a:rPr>
              <a:t>30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697480"/>
            <a:ext cx="11384280" cy="7772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rgbClr val="0F1424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036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3B82F6"/>
                </a:solidFill>
                <a:latin typeface="Menlo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25496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Helvetica Neue"/>
              </a:rPr>
              <a:t>Stand up a private repo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1089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github.com/iiSalman/dashboard-saas — separate from the public dashboard.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2944368"/>
            <a:ext cx="1325880" cy="32004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2944368"/>
            <a:ext cx="1325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  <a:latin typeface="Menlo"/>
              </a:rPr>
              <a:t>10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566160"/>
            <a:ext cx="11384280" cy="7772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749040"/>
            <a:ext cx="411480" cy="411480"/>
          </a:xfrm>
          <a:prstGeom prst="ellipse">
            <a:avLst/>
          </a:prstGeom>
          <a:solidFill>
            <a:srgbClr val="0F1424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4904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3B82F6"/>
                </a:solidFill>
                <a:latin typeface="Menl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694176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Helvetica Neue"/>
              </a:rPr>
              <a:t>Scaffold FastAPI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9776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/health, /tickers, /quote/{symbol}. REST polling stub against yfinance to validate the loop.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0" y="3813048"/>
            <a:ext cx="1325880" cy="32004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3813048"/>
            <a:ext cx="1325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  <a:latin typeface="Menlo"/>
              </a:rPr>
              <a:t>3–4 hr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434840"/>
            <a:ext cx="11384280" cy="7772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4617720"/>
            <a:ext cx="411480" cy="411480"/>
          </a:xfrm>
          <a:prstGeom prst="ellipse">
            <a:avLst/>
          </a:prstGeom>
          <a:solidFill>
            <a:srgbClr val="0F1424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61772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3B82F6"/>
                </a:solidFill>
                <a:latin typeface="Menlo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562856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Helvetica Neue"/>
              </a:rPr>
              <a:t>Spin up Next.js + Supabase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846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create-next-app + Supabase project + email auth + protected route. Stripe test mode wired.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0" y="4681728"/>
            <a:ext cx="1325880" cy="32004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4681728"/>
            <a:ext cx="1325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  <a:latin typeface="Menlo"/>
              </a:rPr>
              <a:t>4–6 hr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303520"/>
            <a:ext cx="11384280" cy="7772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" y="5486400"/>
            <a:ext cx="411480" cy="411480"/>
          </a:xfrm>
          <a:prstGeom prst="ellipse">
            <a:avLst/>
          </a:prstGeom>
          <a:solidFill>
            <a:srgbClr val="0F1424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3B82F6"/>
                </a:solidFill>
                <a:latin typeface="Menlo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431536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Helvetica Neue"/>
              </a:rPr>
              <a:t>Register a domain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7150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Something punchy and memorable: gexedge.com, quantpip.io, flowflag.app — under $15 / yr.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5550408"/>
            <a:ext cx="1325880" cy="320040"/>
          </a:xfrm>
          <a:prstGeom prst="roundRect">
            <a:avLst>
              <a:gd name="adj" fmla="val 4000"/>
            </a:avLst>
          </a:prstGeom>
          <a:solidFill>
            <a:srgbClr val="0F14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0" y="5550408"/>
            <a:ext cx="13258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  <a:latin typeface="Menlo"/>
              </a:rPr>
              <a:t>20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92608" cy="292608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2926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nlo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2286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Menlo"/>
              </a:rPr>
              <a:t>QUANT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84280" cy="9144"/>
          </a:xfrm>
          <a:prstGeom prst="rect">
            <a:avLst/>
          </a:prstGeom>
          <a:solidFill>
            <a:srgbClr val="1F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enlo"/>
              </a:rPr>
              <a:t>14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1384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Helvetica Neue"/>
              </a:rPr>
              <a:t>Sources &amp; further reading.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707" y="1828800"/>
            <a:ext cx="3703320" cy="4023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3707" y="2011680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Menlo"/>
              </a:rPr>
              <a:t>DATA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" y="242316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Theta Data —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" y="271576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enlo"/>
              </a:rPr>
              <a:t>thetadata.net/pricing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" y="320040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Theta Data — commercial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" y="349300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enlo"/>
              </a:rPr>
              <a:t>thetadata.net/commercial-use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" y="397764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Polygon Business / Massive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" y="427024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enlo"/>
              </a:rPr>
              <a:t>polygon.io/business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" y="475488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CBOE All Access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07" y="504748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enlo"/>
              </a:rPr>
              <a:t>datashop.cboe.com/cboe-all-access-api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4187" y="1828800"/>
            <a:ext cx="3703320" cy="4023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4187" y="2011680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Menlo"/>
              </a:rPr>
              <a:t>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2787" y="242316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2787" y="271576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enlo"/>
              </a:rPr>
              <a:t>fastapi.tiangolo.com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2787" y="320040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Supabase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2787" y="349300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enlo"/>
              </a:rPr>
              <a:t>supabase.com / pricing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2787" y="397764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Stripe Subscriptions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2787" y="427024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enlo"/>
              </a:rPr>
              <a:t>stripe.com/docs/billing/subscriptions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2787" y="475488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Railway, Vercel, Upstash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2787" y="504748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enlo"/>
              </a:rPr>
              <a:t>railway.app · vercel.com · upstash.com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4667" y="1828800"/>
            <a:ext cx="3703320" cy="4023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1F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67" y="2011680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Menlo"/>
              </a:rPr>
              <a:t>LEGAL &amp; MARKET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3267" y="242316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Yahoo Finance 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3267" y="271576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enlo"/>
              </a:rPr>
              <a:t>policies.yahoo.com/us/en/yahoo/terms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3267" y="320040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SEC — investment-adviser guidance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267" y="349300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enlo"/>
              </a:rPr>
              <a:t>sec.gov/investment/adviser-guidance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3267" y="397764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SpotGamma blog (GEX research)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3267" y="427024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enlo"/>
              </a:rPr>
              <a:t>spotgamma.com/blog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3267" y="4754880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Helvetica Neue"/>
              </a:rPr>
              <a:t>Unusual Whales (competitor)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3267" y="5047488"/>
            <a:ext cx="3246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enlo"/>
              </a:rPr>
              <a:t>unusualwhales.com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080760"/>
            <a:ext cx="11384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enlo"/>
              </a:rPr>
              <a:t>questions? iterate on this deck — re-run tools/generate_saas_ppt.py to regenerate.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492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nlo"/>
              </a:rPr>
              <a:t>quant-dashboard · saas pivot proposal · 2026-05-16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